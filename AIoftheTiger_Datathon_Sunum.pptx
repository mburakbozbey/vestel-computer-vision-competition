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963" r:id="rId2"/>
    <p:sldId id="2962" r:id="rId3"/>
    <p:sldId id="2989" r:id="rId4"/>
    <p:sldId id="2995" r:id="rId5"/>
    <p:sldId id="2996" r:id="rId6"/>
    <p:sldId id="2992" r:id="rId7"/>
    <p:sldId id="2819" r:id="rId8"/>
    <p:sldId id="2990" r:id="rId9"/>
    <p:sldId id="2993" r:id="rId10"/>
    <p:sldId id="2969" r:id="rId11"/>
    <p:sldId id="2978" r:id="rId12"/>
    <p:sldId id="2988" r:id="rId13"/>
    <p:sldId id="2975" r:id="rId14"/>
    <p:sldId id="2980" r:id="rId15"/>
    <p:sldId id="2976" r:id="rId16"/>
    <p:sldId id="2964" r:id="rId17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0E"/>
    <a:srgbClr val="C2BFB6"/>
    <a:srgbClr val="027101"/>
    <a:srgbClr val="7F6658"/>
    <a:srgbClr val="000000"/>
    <a:srgbClr val="AA8A78"/>
    <a:srgbClr val="3B5353"/>
    <a:srgbClr val="183D6F"/>
    <a:srgbClr val="214E8B"/>
    <a:srgbClr val="CAC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7" autoAdjust="0"/>
    <p:restoredTop sz="69759" autoAdjust="0"/>
  </p:normalViewPr>
  <p:slideViewPr>
    <p:cSldViewPr snapToGrid="0" snapToObjects="1">
      <p:cViewPr varScale="1">
        <p:scale>
          <a:sx n="40" d="100"/>
          <a:sy n="40" d="100"/>
        </p:scale>
        <p:origin x="930" y="72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06" d="100"/>
          <a:sy n="106" d="100"/>
        </p:scale>
        <p:origin x="323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handoutMaster" Target="handoutMasters/handout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7D310-0C4F-4B4C-B025-B4A6F8DB9521}" type="datetimeFigureOut">
              <a:rPr lang="en-US" smtClean="0"/>
              <a:t>2/8/2020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1BD57-0140-5543-8501-12A1D3451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2/8/2020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04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8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7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55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13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54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529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5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6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188824" y="0"/>
            <a:ext cx="12188825" cy="13715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1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 rot="16200000">
            <a:off x="22199868" y="666271"/>
            <a:ext cx="521207" cy="52391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Montserrat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2130252" y="668286"/>
            <a:ext cx="786038" cy="461628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1800" b="0" i="0" smtClean="0">
                <a:solidFill>
                  <a:schemeClr val="bg1"/>
                </a:solidFill>
                <a:latin typeface="Montserrat Light" charset="0"/>
                <a:ea typeface="Montserrat Light" charset="0"/>
                <a:cs typeface="Montserrat Light" charset="0"/>
              </a:rPr>
              <a:pPr algn="ctr"/>
              <a:t>‹#›</a:t>
            </a:fld>
            <a:r>
              <a:rPr lang="id-ID" sz="1800" b="0" i="0" dirty="0">
                <a:solidFill>
                  <a:schemeClr val="bg1"/>
                </a:solidFill>
                <a:latin typeface="Montserrat Light" charset="0"/>
                <a:ea typeface="Montserrat Light" charset="0"/>
                <a:cs typeface="Montserrat Light" charset="0"/>
              </a:rPr>
              <a:t>  </a:t>
            </a: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485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901" r:id="rId2"/>
    <p:sldLayoutId id="2147483959" r:id="rId3"/>
  </p:sldLayoutIdLs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kern="120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1pPr>
    </p:titleStyle>
    <p:bodyStyle>
      <a:lvl1pPr marL="0" indent="0" algn="l" defTabSz="1828434" rtl="0" eaLnBrk="1" latinLnBrk="0" hangingPunct="1">
        <a:lnSpc>
          <a:spcPct val="90000"/>
        </a:lnSpc>
        <a:spcBef>
          <a:spcPts val="2000"/>
        </a:spcBef>
        <a:buFont typeface="Arial" charset="0"/>
        <a:buNone/>
        <a:defRPr lang="en-US" sz="48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1pPr>
      <a:lvl2pPr marL="914217" indent="0" algn="l" defTabSz="1828434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40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2pPr>
      <a:lvl3pPr marL="1828434" indent="0" algn="l" defTabSz="1828434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36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3pPr>
      <a:lvl4pPr marL="2742651" indent="0" algn="l" defTabSz="1828434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32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4pPr>
      <a:lvl5pPr marL="3656868" indent="0" algn="l" defTabSz="1828434" rtl="0" eaLnBrk="1" latinLnBrk="0" hangingPunct="1">
        <a:lnSpc>
          <a:spcPct val="90000"/>
        </a:lnSpc>
        <a:spcBef>
          <a:spcPts val="1000"/>
        </a:spcBef>
        <a:buFont typeface="Arial" charset="0"/>
        <a:buNone/>
        <a:defRPr lang="en-US" sz="3200" kern="1200" dirty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2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5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6F88AF4F-E84C-4DD0-A26B-DE954FC4A1F2}"/>
              </a:ext>
            </a:extLst>
          </p:cNvPr>
          <p:cNvSpPr/>
          <p:nvPr/>
        </p:nvSpPr>
        <p:spPr>
          <a:xfrm>
            <a:off x="5673725" y="5192483"/>
            <a:ext cx="13030200" cy="333102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EC788C8E-2562-4975-AAF9-0809077F0C76}"/>
              </a:ext>
            </a:extLst>
          </p:cNvPr>
          <p:cNvSpPr txBox="1"/>
          <p:nvPr/>
        </p:nvSpPr>
        <p:spPr>
          <a:xfrm>
            <a:off x="5673725" y="6196277"/>
            <a:ext cx="1303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8000" dirty="0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THY </a:t>
            </a:r>
            <a:r>
              <a:rPr lang="tr-TR" sz="8000" dirty="0" err="1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Datathon</a:t>
            </a:r>
            <a:endParaRPr lang="tr-TR" sz="8000" dirty="0">
              <a:solidFill>
                <a:schemeClr val="tx2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3076" name="Picture 4" descr="airplane icon black png ile ilgili gÃ¶rsel sonucu">
            <a:extLst>
              <a:ext uri="{FF2B5EF4-FFF2-40B4-BE49-F238E27FC236}">
                <a16:creationId xmlns:a16="http://schemas.microsoft.com/office/drawing/2014/main" id="{48EB8D28-6877-40FC-9325-C7C536711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8979" y="11454064"/>
            <a:ext cx="2699691" cy="189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58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367A194-344A-434C-82AA-7EC6650904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9" r="20489"/>
          <a:stretch>
            <a:fillRect/>
          </a:stretch>
        </p:blipFill>
        <p:spPr>
          <a:xfrm>
            <a:off x="12188825" y="1"/>
            <a:ext cx="12188825" cy="13715999"/>
          </a:xfrm>
        </p:spPr>
      </p:pic>
      <p:sp>
        <p:nvSpPr>
          <p:cNvPr id="13" name="TextBox 12"/>
          <p:cNvSpPr txBox="1"/>
          <p:nvPr/>
        </p:nvSpPr>
        <p:spPr>
          <a:xfrm>
            <a:off x="-4155081" y="7930779"/>
            <a:ext cx="15708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>
                <a:solidFill>
                  <a:schemeClr val="tx2"/>
                </a:solidFill>
              </a:rPr>
              <a:t>Fatih Kubilay Yavuz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951" y="8577111"/>
            <a:ext cx="69791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tx2"/>
                </a:solidFill>
              </a:rPr>
              <a:t>Boğaziçi Üniversitesi </a:t>
            </a:r>
          </a:p>
          <a:p>
            <a:r>
              <a:rPr lang="tr-TR" sz="3200" dirty="0">
                <a:solidFill>
                  <a:schemeClr val="tx2"/>
                </a:solidFill>
              </a:rPr>
              <a:t>Endüstri Mühendisliği </a:t>
            </a:r>
          </a:p>
          <a:p>
            <a:r>
              <a:rPr lang="tr-TR" sz="3200" dirty="0">
                <a:solidFill>
                  <a:schemeClr val="tx2"/>
                </a:solidFill>
              </a:rPr>
              <a:t>4.Sınıf</a:t>
            </a:r>
          </a:p>
        </p:txBody>
      </p:sp>
      <p:pic>
        <p:nvPicPr>
          <p:cNvPr id="11266" name="Picture 2" descr="me png ile ilgili gÃ¶rsel sonucu">
            <a:extLst>
              <a:ext uri="{FF2B5EF4-FFF2-40B4-BE49-F238E27FC236}">
                <a16:creationId xmlns:a16="http://schemas.microsoft.com/office/drawing/2014/main" id="{3B608616-066D-4C5D-A1CD-768D9F78B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035" y="11345996"/>
            <a:ext cx="1903578" cy="182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hape 2906">
            <a:extLst>
              <a:ext uri="{FF2B5EF4-FFF2-40B4-BE49-F238E27FC236}">
                <a16:creationId xmlns:a16="http://schemas.microsoft.com/office/drawing/2014/main" id="{F5CEC1BB-DCFC-46DF-9D3D-37ECAA44875C}"/>
              </a:ext>
            </a:extLst>
          </p:cNvPr>
          <p:cNvSpPr/>
          <p:nvPr/>
        </p:nvSpPr>
        <p:spPr>
          <a:xfrm>
            <a:off x="1170778" y="8771343"/>
            <a:ext cx="448990" cy="471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7B6A4F9C-CF28-461E-B207-3AF6C3A102E5}"/>
              </a:ext>
            </a:extLst>
          </p:cNvPr>
          <p:cNvSpPr txBox="1"/>
          <p:nvPr/>
        </p:nvSpPr>
        <p:spPr>
          <a:xfrm>
            <a:off x="18161404" y="8575561"/>
            <a:ext cx="71783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</a:pPr>
            <a:r>
              <a:rPr lang="tr-TR" sz="3200" dirty="0">
                <a:solidFill>
                  <a:schemeClr val="tx2"/>
                </a:solidFill>
              </a:rPr>
              <a:t>Boğaziçi Üniversitesi</a:t>
            </a:r>
          </a:p>
          <a:p>
            <a:pPr lvl="0">
              <a:spcBef>
                <a:spcPts val="600"/>
              </a:spcBef>
            </a:pPr>
            <a:r>
              <a:rPr lang="tr-TR" sz="3200" dirty="0">
                <a:solidFill>
                  <a:schemeClr val="tx2"/>
                </a:solidFill>
              </a:rPr>
              <a:t>Elektrik-Elektronik Mühendisliği</a:t>
            </a:r>
          </a:p>
          <a:p>
            <a:pPr lvl="0">
              <a:spcBef>
                <a:spcPts val="600"/>
              </a:spcBef>
            </a:pPr>
            <a:r>
              <a:rPr lang="tr-TR" sz="3200" dirty="0">
                <a:solidFill>
                  <a:schemeClr val="tx2"/>
                </a:solidFill>
              </a:rPr>
              <a:t>4.Sınıf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85EDDBD-6EDF-4717-91F8-C3A85B4A3364}"/>
              </a:ext>
            </a:extLst>
          </p:cNvPr>
          <p:cNvSpPr txBox="1"/>
          <p:nvPr/>
        </p:nvSpPr>
        <p:spPr>
          <a:xfrm>
            <a:off x="17954793" y="7942731"/>
            <a:ext cx="45031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>
                <a:solidFill>
                  <a:schemeClr val="tx2"/>
                </a:solidFill>
              </a:rPr>
              <a:t>Melik Burak Bozbey</a:t>
            </a:r>
          </a:p>
          <a:p>
            <a:pPr algn="ctr"/>
            <a:endParaRPr lang="en-US" sz="5400" spc="600" dirty="0">
              <a:solidFill>
                <a:schemeClr val="tx2"/>
              </a:solidFill>
              <a:ea typeface="DengXian Light" panose="02010600030101010101" pitchFamily="2" charset="-122"/>
              <a:cs typeface="Montserrat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3381ED-D1F0-460F-BD16-8F46D08B698B}"/>
              </a:ext>
            </a:extLst>
          </p:cNvPr>
          <p:cNvSpPr txBox="1"/>
          <p:nvPr/>
        </p:nvSpPr>
        <p:spPr>
          <a:xfrm>
            <a:off x="9569356" y="952559"/>
            <a:ext cx="52389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6600" b="1" dirty="0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AI of </a:t>
            </a:r>
            <a:r>
              <a:rPr lang="tr-TR" sz="6600" b="1" dirty="0" err="1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the</a:t>
            </a:r>
            <a:r>
              <a:rPr lang="tr-TR" sz="6600" b="1" dirty="0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 </a:t>
            </a:r>
            <a:r>
              <a:rPr lang="tr-TR" sz="6600" b="1" dirty="0" err="1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Tiger</a:t>
            </a:r>
            <a:endParaRPr lang="tr-TR" sz="6600" b="1" dirty="0">
              <a:solidFill>
                <a:schemeClr val="tx2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E1106E4C-F688-4E09-8921-38E16985A05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2938" y="4160127"/>
            <a:ext cx="3220088" cy="3320716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46E6CADF-7BEE-4DCD-9F86-174484C80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1855" y="4160127"/>
            <a:ext cx="3220088" cy="3320716"/>
          </a:xfrm>
          <a:prstGeom prst="rect">
            <a:avLst/>
          </a:prstGeom>
        </p:spPr>
      </p:pic>
      <p:sp>
        <p:nvSpPr>
          <p:cNvPr id="15" name="Shape 2906">
            <a:extLst>
              <a:ext uri="{FF2B5EF4-FFF2-40B4-BE49-F238E27FC236}">
                <a16:creationId xmlns:a16="http://schemas.microsoft.com/office/drawing/2014/main" id="{AECBC4D0-1789-41EA-B92D-1A74AD10AF4E}"/>
              </a:ext>
            </a:extLst>
          </p:cNvPr>
          <p:cNvSpPr/>
          <p:nvPr/>
        </p:nvSpPr>
        <p:spPr>
          <a:xfrm>
            <a:off x="17082174" y="8751133"/>
            <a:ext cx="448990" cy="471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/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7AF4BA2D-3D98-41F6-9033-25D4D63E43BB}"/>
              </a:ext>
            </a:extLst>
          </p:cNvPr>
          <p:cNvSpPr txBox="1"/>
          <p:nvPr/>
        </p:nvSpPr>
        <p:spPr>
          <a:xfrm>
            <a:off x="10191411" y="8546096"/>
            <a:ext cx="4616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tx2"/>
                </a:solidFill>
              </a:rPr>
              <a:t>İTÜ</a:t>
            </a:r>
          </a:p>
          <a:p>
            <a:r>
              <a:rPr lang="tr-TR" sz="3200" dirty="0">
                <a:solidFill>
                  <a:schemeClr val="tx2"/>
                </a:solidFill>
              </a:rPr>
              <a:t>Bilgisayar Mühendisliği </a:t>
            </a:r>
          </a:p>
          <a:p>
            <a:r>
              <a:rPr lang="tr-TR" sz="3200" dirty="0">
                <a:solidFill>
                  <a:schemeClr val="tx2"/>
                </a:solidFill>
              </a:rPr>
              <a:t>3.Sınıf</a:t>
            </a:r>
          </a:p>
        </p:txBody>
      </p:sp>
      <p:sp>
        <p:nvSpPr>
          <p:cNvPr id="21" name="Shape 2906">
            <a:extLst>
              <a:ext uri="{FF2B5EF4-FFF2-40B4-BE49-F238E27FC236}">
                <a16:creationId xmlns:a16="http://schemas.microsoft.com/office/drawing/2014/main" id="{FC22D0BC-3F48-4A07-81B0-65E7C8D92F2E}"/>
              </a:ext>
            </a:extLst>
          </p:cNvPr>
          <p:cNvSpPr/>
          <p:nvPr/>
        </p:nvSpPr>
        <p:spPr>
          <a:xfrm>
            <a:off x="9361238" y="8740328"/>
            <a:ext cx="448990" cy="471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/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1F7A473A-0A16-4C54-8DC4-4E9DCDD77F4A}"/>
              </a:ext>
            </a:extLst>
          </p:cNvPr>
          <p:cNvSpPr txBox="1"/>
          <p:nvPr/>
        </p:nvSpPr>
        <p:spPr>
          <a:xfrm>
            <a:off x="4368559" y="7930780"/>
            <a:ext cx="15708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>
                <a:solidFill>
                  <a:schemeClr val="tx2"/>
                </a:solidFill>
              </a:rPr>
              <a:t>Hakkı Besim Bardakçı</a:t>
            </a:r>
          </a:p>
        </p:txBody>
      </p:sp>
      <p:pic>
        <p:nvPicPr>
          <p:cNvPr id="10" name="Resim 9" descr="kişi, adam, açık hava, giyme içeren bir resim&#10;&#10;Açıklama otomatik olarak oluşturuldu">
            <a:extLst>
              <a:ext uri="{FF2B5EF4-FFF2-40B4-BE49-F238E27FC236}">
                <a16:creationId xmlns:a16="http://schemas.microsoft.com/office/drawing/2014/main" id="{33895FC6-4C73-4D7F-A494-D0C7CA3E7BE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412" y="3863553"/>
            <a:ext cx="3132821" cy="341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DB4DFFB-AE36-4BF4-B1DE-48F641A6391F}"/>
              </a:ext>
            </a:extLst>
          </p:cNvPr>
          <p:cNvSpPr txBox="1"/>
          <p:nvPr/>
        </p:nvSpPr>
        <p:spPr>
          <a:xfrm>
            <a:off x="10911873" y="6303999"/>
            <a:ext cx="255390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6600" dirty="0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Case 1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3C6426C-8101-4E70-A6B4-92735AB9F301}"/>
              </a:ext>
            </a:extLst>
          </p:cNvPr>
          <p:cNvSpPr/>
          <p:nvPr/>
        </p:nvSpPr>
        <p:spPr>
          <a:xfrm>
            <a:off x="5673725" y="5192483"/>
            <a:ext cx="13030200" cy="333102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616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0903537" y="3982167"/>
            <a:ext cx="3466495" cy="2496785"/>
          </a:xfrm>
          <a:custGeom>
            <a:avLst/>
            <a:gdLst>
              <a:gd name="connsiteX0" fmla="*/ 0 w 3774188"/>
              <a:gd name="connsiteY0" fmla="*/ 2718404 h 2718404"/>
              <a:gd name="connsiteX1" fmla="*/ 1887089 w 3774188"/>
              <a:gd name="connsiteY1" fmla="*/ 0 h 2718404"/>
              <a:gd name="connsiteX2" fmla="*/ 1887099 w 3774188"/>
              <a:gd name="connsiteY2" fmla="*/ 0 h 2718404"/>
              <a:gd name="connsiteX3" fmla="*/ 3774188 w 3774188"/>
              <a:gd name="connsiteY3" fmla="*/ 2718404 h 2718404"/>
              <a:gd name="connsiteX4" fmla="*/ 0 w 3774188"/>
              <a:gd name="connsiteY4" fmla="*/ 2718404 h 271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4188" h="2718404">
                <a:moveTo>
                  <a:pt x="0" y="2718404"/>
                </a:moveTo>
                <a:lnTo>
                  <a:pt x="1887089" y="0"/>
                </a:lnTo>
                <a:lnTo>
                  <a:pt x="1887099" y="0"/>
                </a:lnTo>
                <a:lnTo>
                  <a:pt x="3774188" y="2718404"/>
                </a:lnTo>
                <a:lnTo>
                  <a:pt x="0" y="2718404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" tIns="457200" rIns="15240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9806240" y="6478952"/>
            <a:ext cx="5661092" cy="1580684"/>
          </a:xfrm>
          <a:custGeom>
            <a:avLst/>
            <a:gdLst>
              <a:gd name="connsiteX0" fmla="*/ 0 w 6163581"/>
              <a:gd name="connsiteY0" fmla="*/ 1720988 h 1720988"/>
              <a:gd name="connsiteX1" fmla="*/ 1194693 w 6163581"/>
              <a:gd name="connsiteY1" fmla="*/ 0 h 1720988"/>
              <a:gd name="connsiteX2" fmla="*/ 4968888 w 6163581"/>
              <a:gd name="connsiteY2" fmla="*/ 0 h 1720988"/>
              <a:gd name="connsiteX3" fmla="*/ 6163581 w 6163581"/>
              <a:gd name="connsiteY3" fmla="*/ 1720988 h 1720988"/>
              <a:gd name="connsiteX4" fmla="*/ 0 w 6163581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3581" h="1720988">
                <a:moveTo>
                  <a:pt x="0" y="1720988"/>
                </a:moveTo>
                <a:lnTo>
                  <a:pt x="1194693" y="0"/>
                </a:lnTo>
                <a:lnTo>
                  <a:pt x="4968888" y="0"/>
                </a:lnTo>
                <a:lnTo>
                  <a:pt x="6163581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2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93867" tIns="15240" rIns="1093867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8708942" y="8059636"/>
            <a:ext cx="7855687" cy="1580684"/>
          </a:xfrm>
          <a:custGeom>
            <a:avLst/>
            <a:gdLst>
              <a:gd name="connsiteX0" fmla="*/ 0 w 8552973"/>
              <a:gd name="connsiteY0" fmla="*/ 1720988 h 1720988"/>
              <a:gd name="connsiteX1" fmla="*/ 1194693 w 8552973"/>
              <a:gd name="connsiteY1" fmla="*/ 0 h 1720988"/>
              <a:gd name="connsiteX2" fmla="*/ 7358280 w 8552973"/>
              <a:gd name="connsiteY2" fmla="*/ 0 h 1720988"/>
              <a:gd name="connsiteX3" fmla="*/ 8552973 w 8552973"/>
              <a:gd name="connsiteY3" fmla="*/ 1720988 h 1720988"/>
              <a:gd name="connsiteX4" fmla="*/ 0 w 8552973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2973" h="1720988">
                <a:moveTo>
                  <a:pt x="0" y="1720988"/>
                </a:moveTo>
                <a:lnTo>
                  <a:pt x="1194693" y="0"/>
                </a:lnTo>
                <a:lnTo>
                  <a:pt x="7358280" y="0"/>
                </a:lnTo>
                <a:lnTo>
                  <a:pt x="8552973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2010" tIns="15240" rIns="1512011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7611644" y="9640320"/>
            <a:ext cx="10050284" cy="1580684"/>
          </a:xfrm>
          <a:custGeom>
            <a:avLst/>
            <a:gdLst>
              <a:gd name="connsiteX0" fmla="*/ 0 w 10942366"/>
              <a:gd name="connsiteY0" fmla="*/ 1720988 h 1720988"/>
              <a:gd name="connsiteX1" fmla="*/ 1194693 w 10942366"/>
              <a:gd name="connsiteY1" fmla="*/ 0 h 1720988"/>
              <a:gd name="connsiteX2" fmla="*/ 9747673 w 10942366"/>
              <a:gd name="connsiteY2" fmla="*/ 0 h 1720988"/>
              <a:gd name="connsiteX3" fmla="*/ 10942366 w 10942366"/>
              <a:gd name="connsiteY3" fmla="*/ 1720988 h 1720988"/>
              <a:gd name="connsiteX4" fmla="*/ 0 w 10942366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2366" h="1720988">
                <a:moveTo>
                  <a:pt x="0" y="1720988"/>
                </a:moveTo>
                <a:lnTo>
                  <a:pt x="1194693" y="0"/>
                </a:lnTo>
                <a:lnTo>
                  <a:pt x="9747673" y="0"/>
                </a:lnTo>
                <a:lnTo>
                  <a:pt x="10942366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4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30154" tIns="15240" rIns="1930155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915151" y="5247684"/>
            <a:ext cx="14855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400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UI</a:t>
            </a:r>
            <a:endParaRPr lang="en-US" sz="66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414599" y="7069437"/>
            <a:ext cx="4398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Thresholding</a:t>
            </a:r>
            <a:endParaRPr lang="en-US" sz="60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72279" y="8725366"/>
            <a:ext cx="7371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Query </a:t>
            </a:r>
            <a:r>
              <a:rPr lang="tr-TR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Selection</a:t>
            </a:r>
            <a:endParaRPr lang="en-US" sz="54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03941" y="10177565"/>
            <a:ext cx="8307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Parse</a:t>
            </a:r>
            <a:r>
              <a:rPr lang="tr-TR" sz="4000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Data</a:t>
            </a:r>
            <a:endParaRPr lang="en-US" sz="60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F6ECDAF4-B449-4572-B62B-34E54A4E43FB}"/>
              </a:ext>
            </a:extLst>
          </p:cNvPr>
          <p:cNvSpPr txBox="1"/>
          <p:nvPr/>
        </p:nvSpPr>
        <p:spPr>
          <a:xfrm>
            <a:off x="7286773" y="1625779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Procedure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11" name="Picture 4" descr="php icon ile ilgili gÃ¶rsel sonucu">
            <a:extLst>
              <a:ext uri="{FF2B5EF4-FFF2-40B4-BE49-F238E27FC236}">
                <a16:creationId xmlns:a16="http://schemas.microsoft.com/office/drawing/2014/main" id="{DF444449-BC04-4A2E-A2B7-E30D1DBFD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4397" y="11657656"/>
            <a:ext cx="1820096" cy="182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lus icon ile ilgili gÃ¶rsel sonucu">
            <a:extLst>
              <a:ext uri="{FF2B5EF4-FFF2-40B4-BE49-F238E27FC236}">
                <a16:creationId xmlns:a16="http://schemas.microsoft.com/office/drawing/2014/main" id="{0BD418BC-3FAE-4CA5-9A3D-03E3A9F04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24493" y="11933218"/>
            <a:ext cx="1268971" cy="126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MYSQL icon ile ilgili gÃ¶rsel sonucu">
            <a:extLst>
              <a:ext uri="{FF2B5EF4-FFF2-40B4-BE49-F238E27FC236}">
                <a16:creationId xmlns:a16="http://schemas.microsoft.com/office/drawing/2014/main" id="{F75838A1-7817-4D5C-B994-FB222D86C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93464" y="11489627"/>
            <a:ext cx="1820096" cy="182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23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D7A93FC-2714-4B52-AC58-2CA27AED4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298" y="4459655"/>
            <a:ext cx="13563054" cy="4796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85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DB4DFFB-AE36-4BF4-B1DE-48F641A6391F}"/>
              </a:ext>
            </a:extLst>
          </p:cNvPr>
          <p:cNvSpPr txBox="1"/>
          <p:nvPr/>
        </p:nvSpPr>
        <p:spPr>
          <a:xfrm>
            <a:off x="10911874" y="6303999"/>
            <a:ext cx="255390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6600" dirty="0">
                <a:solidFill>
                  <a:schemeClr val="tx2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Case 2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3C6426C-8101-4E70-A6B4-92735AB9F301}"/>
              </a:ext>
            </a:extLst>
          </p:cNvPr>
          <p:cNvSpPr/>
          <p:nvPr/>
        </p:nvSpPr>
        <p:spPr>
          <a:xfrm>
            <a:off x="5673725" y="5192483"/>
            <a:ext cx="13030200" cy="333102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859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0903537" y="3982167"/>
            <a:ext cx="3466495" cy="2496785"/>
          </a:xfrm>
          <a:custGeom>
            <a:avLst/>
            <a:gdLst>
              <a:gd name="connsiteX0" fmla="*/ 0 w 3774188"/>
              <a:gd name="connsiteY0" fmla="*/ 2718404 h 2718404"/>
              <a:gd name="connsiteX1" fmla="*/ 1887089 w 3774188"/>
              <a:gd name="connsiteY1" fmla="*/ 0 h 2718404"/>
              <a:gd name="connsiteX2" fmla="*/ 1887099 w 3774188"/>
              <a:gd name="connsiteY2" fmla="*/ 0 h 2718404"/>
              <a:gd name="connsiteX3" fmla="*/ 3774188 w 3774188"/>
              <a:gd name="connsiteY3" fmla="*/ 2718404 h 2718404"/>
              <a:gd name="connsiteX4" fmla="*/ 0 w 3774188"/>
              <a:gd name="connsiteY4" fmla="*/ 2718404 h 271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4188" h="2718404">
                <a:moveTo>
                  <a:pt x="0" y="2718404"/>
                </a:moveTo>
                <a:lnTo>
                  <a:pt x="1887089" y="0"/>
                </a:lnTo>
                <a:lnTo>
                  <a:pt x="1887099" y="0"/>
                </a:lnTo>
                <a:lnTo>
                  <a:pt x="3774188" y="2718404"/>
                </a:lnTo>
                <a:lnTo>
                  <a:pt x="0" y="2718404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" tIns="457200" rIns="15240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9806240" y="6478952"/>
            <a:ext cx="5661092" cy="1580684"/>
          </a:xfrm>
          <a:custGeom>
            <a:avLst/>
            <a:gdLst>
              <a:gd name="connsiteX0" fmla="*/ 0 w 6163581"/>
              <a:gd name="connsiteY0" fmla="*/ 1720988 h 1720988"/>
              <a:gd name="connsiteX1" fmla="*/ 1194693 w 6163581"/>
              <a:gd name="connsiteY1" fmla="*/ 0 h 1720988"/>
              <a:gd name="connsiteX2" fmla="*/ 4968888 w 6163581"/>
              <a:gd name="connsiteY2" fmla="*/ 0 h 1720988"/>
              <a:gd name="connsiteX3" fmla="*/ 6163581 w 6163581"/>
              <a:gd name="connsiteY3" fmla="*/ 1720988 h 1720988"/>
              <a:gd name="connsiteX4" fmla="*/ 0 w 6163581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3581" h="1720988">
                <a:moveTo>
                  <a:pt x="0" y="1720988"/>
                </a:moveTo>
                <a:lnTo>
                  <a:pt x="1194693" y="0"/>
                </a:lnTo>
                <a:lnTo>
                  <a:pt x="4968888" y="0"/>
                </a:lnTo>
                <a:lnTo>
                  <a:pt x="6163581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2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93867" tIns="15240" rIns="1093867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8708942" y="8059636"/>
            <a:ext cx="7855687" cy="1580684"/>
          </a:xfrm>
          <a:custGeom>
            <a:avLst/>
            <a:gdLst>
              <a:gd name="connsiteX0" fmla="*/ 0 w 8552973"/>
              <a:gd name="connsiteY0" fmla="*/ 1720988 h 1720988"/>
              <a:gd name="connsiteX1" fmla="*/ 1194693 w 8552973"/>
              <a:gd name="connsiteY1" fmla="*/ 0 h 1720988"/>
              <a:gd name="connsiteX2" fmla="*/ 7358280 w 8552973"/>
              <a:gd name="connsiteY2" fmla="*/ 0 h 1720988"/>
              <a:gd name="connsiteX3" fmla="*/ 8552973 w 8552973"/>
              <a:gd name="connsiteY3" fmla="*/ 1720988 h 1720988"/>
              <a:gd name="connsiteX4" fmla="*/ 0 w 8552973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2973" h="1720988">
                <a:moveTo>
                  <a:pt x="0" y="1720988"/>
                </a:moveTo>
                <a:lnTo>
                  <a:pt x="1194693" y="0"/>
                </a:lnTo>
                <a:lnTo>
                  <a:pt x="7358280" y="0"/>
                </a:lnTo>
                <a:lnTo>
                  <a:pt x="8552973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2010" tIns="15240" rIns="1512011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7611644" y="9640320"/>
            <a:ext cx="10050284" cy="1580684"/>
          </a:xfrm>
          <a:custGeom>
            <a:avLst/>
            <a:gdLst>
              <a:gd name="connsiteX0" fmla="*/ 0 w 10942366"/>
              <a:gd name="connsiteY0" fmla="*/ 1720988 h 1720988"/>
              <a:gd name="connsiteX1" fmla="*/ 1194693 w 10942366"/>
              <a:gd name="connsiteY1" fmla="*/ 0 h 1720988"/>
              <a:gd name="connsiteX2" fmla="*/ 9747673 w 10942366"/>
              <a:gd name="connsiteY2" fmla="*/ 0 h 1720988"/>
              <a:gd name="connsiteX3" fmla="*/ 10942366 w 10942366"/>
              <a:gd name="connsiteY3" fmla="*/ 1720988 h 1720988"/>
              <a:gd name="connsiteX4" fmla="*/ 0 w 10942366"/>
              <a:gd name="connsiteY4" fmla="*/ 1720988 h 172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2366" h="1720988">
                <a:moveTo>
                  <a:pt x="0" y="1720988"/>
                </a:moveTo>
                <a:lnTo>
                  <a:pt x="1194693" y="0"/>
                </a:lnTo>
                <a:lnTo>
                  <a:pt x="9747673" y="0"/>
                </a:lnTo>
                <a:lnTo>
                  <a:pt x="10942366" y="1720988"/>
                </a:lnTo>
                <a:lnTo>
                  <a:pt x="0" y="1720988"/>
                </a:lnTo>
                <a:close/>
              </a:path>
            </a:pathLst>
          </a:custGeom>
          <a:solidFill>
            <a:schemeClr val="accent4"/>
          </a:solidFill>
          <a:ln w="635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30154" tIns="15240" rIns="1930155" bIns="9144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rgbClr val="FFFFFF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915151" y="5247684"/>
            <a:ext cx="14855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400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ML</a:t>
            </a:r>
            <a:endParaRPr lang="en-US" sz="66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414599" y="7069437"/>
            <a:ext cx="4398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Preprocessing</a:t>
            </a:r>
            <a:endParaRPr lang="en-US" sz="60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72279" y="8725366"/>
            <a:ext cx="7371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Exploratory</a:t>
            </a:r>
            <a:r>
              <a:rPr lang="tr-TR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Data Analysis</a:t>
            </a:r>
            <a:endParaRPr lang="en-US" sz="54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03941" y="10177565"/>
            <a:ext cx="8307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Data </a:t>
            </a:r>
            <a:r>
              <a:rPr lang="tr-TR" sz="4000" spc="6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Scaling</a:t>
            </a:r>
            <a:endParaRPr lang="en-US" sz="6000" spc="6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F6ECDAF4-B449-4572-B62B-34E54A4E43FB}"/>
              </a:ext>
            </a:extLst>
          </p:cNvPr>
          <p:cNvSpPr txBox="1"/>
          <p:nvPr/>
        </p:nvSpPr>
        <p:spPr>
          <a:xfrm>
            <a:off x="7286773" y="1625779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Procedure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2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27009" y="1847206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Data </a:t>
            </a:r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Scaling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739321" y="3656254"/>
            <a:ext cx="17072722" cy="1321332"/>
            <a:chOff x="3276792" y="4309397"/>
            <a:chExt cx="17072722" cy="1321332"/>
          </a:xfrm>
        </p:grpSpPr>
        <p:sp>
          <p:nvSpPr>
            <p:cNvPr id="9" name="TextBox 8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>
                  <a:latin typeface="Montserrat Light"/>
                  <a:ea typeface="Montserrat Light" charset="0"/>
                  <a:cs typeface="Montserrat Light" charset="0"/>
                </a:rPr>
                <a:t>Set specific data types for each column</a:t>
              </a:r>
              <a:r>
                <a:rPr lang="tr-TR" sz="2400">
                  <a:latin typeface="Montserrat Light"/>
                  <a:ea typeface="Montserrat Light" charset="0"/>
                  <a:cs typeface="Montserrat Light" charset="0"/>
                </a:rPr>
                <a:t>.</a:t>
              </a: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03022" y="4309397"/>
              <a:ext cx="92773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Handling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Large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Data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with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«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Pandas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»</a:t>
              </a:r>
              <a:endParaRPr lang="en-US" sz="54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782750" y="5682514"/>
            <a:ext cx="17072722" cy="1321332"/>
            <a:chOff x="3276792" y="4309397"/>
            <a:chExt cx="17072722" cy="1321332"/>
          </a:xfrm>
        </p:grpSpPr>
        <p:sp>
          <p:nvSpPr>
            <p:cNvPr id="11" name="TextBox 10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>
                  <a:latin typeface="Montserrat Light" charset="0"/>
                  <a:ea typeface="Montserrat Light" charset="0"/>
                  <a:cs typeface="Montserrat Light" charset="0"/>
                </a:rPr>
                <a:t>It uses Apache Arrow columnar memory specification to represent binary data on disk.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03022" y="4309397"/>
              <a:ext cx="96154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«</a:t>
              </a:r>
              <a:r>
                <a:rPr lang="en-US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Feather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»</a:t>
              </a:r>
              <a:r>
                <a:rPr lang="en-US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Format to Read &amp; Write Data</a:t>
              </a:r>
            </a:p>
          </p:txBody>
        </p:sp>
        <p:sp>
          <p:nvSpPr>
            <p:cNvPr id="13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739321" y="7821803"/>
            <a:ext cx="17072722" cy="2983325"/>
            <a:chOff x="3276792" y="4309397"/>
            <a:chExt cx="17072722" cy="2983325"/>
          </a:xfrm>
        </p:grpSpPr>
        <p:sp>
          <p:nvSpPr>
            <p:cNvPr id="15" name="TextBox 14"/>
            <p:cNvSpPr txBox="1"/>
            <p:nvPr/>
          </p:nvSpPr>
          <p:spPr>
            <a:xfrm>
              <a:off x="4103022" y="5041657"/>
              <a:ext cx="16246492" cy="2251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>
                  <a:latin typeface="Montserrat Light"/>
                </a:rPr>
                <a:t>A package which efficiently applies any function to a pandas </a:t>
              </a:r>
              <a:r>
                <a:rPr lang="en-US" sz="2400" dirty="0" err="1">
                  <a:latin typeface="Montserrat Light"/>
                </a:rPr>
                <a:t>dataframe</a:t>
              </a:r>
              <a:r>
                <a:rPr lang="en-US" sz="2400" dirty="0">
                  <a:latin typeface="Montserrat Light"/>
                </a:rPr>
                <a:t> or series in the fastest available </a:t>
              </a:r>
              <a:endParaRPr lang="tr-TR" sz="2400" dirty="0">
                <a:latin typeface="Montserrat Light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2400" dirty="0">
                  <a:latin typeface="Montserrat Light"/>
                </a:rPr>
                <a:t>manner.</a:t>
              </a:r>
            </a:p>
            <a:p>
              <a:pPr algn="just">
                <a:lnSpc>
                  <a:spcPct val="150000"/>
                </a:lnSpc>
              </a:pPr>
              <a:endParaRPr lang="en-US" sz="2400" dirty="0">
                <a:latin typeface="Montserrat Light"/>
              </a:endParaRPr>
            </a:p>
            <a:p>
              <a:pPr algn="just">
                <a:lnSpc>
                  <a:spcPct val="150000"/>
                </a:lnSpc>
              </a:pP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3022" y="4309397"/>
              <a:ext cx="99547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«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Swifter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»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to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Efficient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Data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Manipulation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1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FC8F736F-5786-4092-BF4E-70FEF53F9E6F}"/>
              </a:ext>
            </a:extLst>
          </p:cNvPr>
          <p:cNvGrpSpPr/>
          <p:nvPr/>
        </p:nvGrpSpPr>
        <p:grpSpPr>
          <a:xfrm>
            <a:off x="3782750" y="9822377"/>
            <a:ext cx="17072722" cy="1318895"/>
            <a:chOff x="3276792" y="4309397"/>
            <a:chExt cx="17072722" cy="1318895"/>
          </a:xfrm>
        </p:grpSpPr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64792E4-09AA-4197-AFE9-ADC859619A22}"/>
                </a:ext>
              </a:extLst>
            </p:cNvPr>
            <p:cNvSpPr txBox="1"/>
            <p:nvPr/>
          </p:nvSpPr>
          <p:spPr>
            <a:xfrm>
              <a:off x="4103022" y="5041657"/>
              <a:ext cx="16246492" cy="586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LabelEncoder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is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used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instead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of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OneHotEncoder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.</a:t>
              </a: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A21323D3-5486-4F26-90A8-5CACCEEFBF37}"/>
                </a:ext>
              </a:extLst>
            </p:cNvPr>
            <p:cNvSpPr txBox="1"/>
            <p:nvPr/>
          </p:nvSpPr>
          <p:spPr>
            <a:xfrm>
              <a:off x="4103022" y="4309397"/>
              <a:ext cx="68738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Encoding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Categorical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Labels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5" name="Shape 2906">
              <a:extLst>
                <a:ext uri="{FF2B5EF4-FFF2-40B4-BE49-F238E27FC236}">
                  <a16:creationId xmlns:a16="http://schemas.microsoft.com/office/drawing/2014/main" id="{DA105539-C6CE-4F6C-BD75-32AC00AA8C95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sp>
        <p:nvSpPr>
          <p:cNvPr id="26" name="Dikdörtgen 25">
            <a:extLst>
              <a:ext uri="{FF2B5EF4-FFF2-40B4-BE49-F238E27FC236}">
                <a16:creationId xmlns:a16="http://schemas.microsoft.com/office/drawing/2014/main" id="{A90F033B-7FA4-4FF9-82AF-1A2EBFF3ACCD}"/>
              </a:ext>
            </a:extLst>
          </p:cNvPr>
          <p:cNvSpPr/>
          <p:nvPr/>
        </p:nvSpPr>
        <p:spPr>
          <a:xfrm>
            <a:off x="6827009" y="1600200"/>
            <a:ext cx="11330362" cy="170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26" name="Picture 2" descr="panda icon black ile ilgili gÃ¶rsel sonucu">
            <a:extLst>
              <a:ext uri="{FF2B5EF4-FFF2-40B4-BE49-F238E27FC236}">
                <a16:creationId xmlns:a16="http://schemas.microsoft.com/office/drawing/2014/main" id="{87241E37-13A9-456D-8239-0DC242819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6325" y="1156034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Resim 7" descr="duvar, iç mekan, kişi, koltuk içeren bir resim&#10;&#10;Açıklama otomatik olarak oluşturuldu">
            <a:extLst>
              <a:ext uri="{FF2B5EF4-FFF2-40B4-BE49-F238E27FC236}">
                <a16:creationId xmlns:a16="http://schemas.microsoft.com/office/drawing/2014/main" id="{D1B9ED70-C2D8-49B8-9ED3-44F7950A88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4590" y="3656254"/>
            <a:ext cx="5840620" cy="7785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451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166618C-024A-45F3-9122-018E6A74A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2311" y="3531548"/>
            <a:ext cx="9704237" cy="6652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0159360-0431-472D-9E01-A10ACEFFB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141" y="2949831"/>
            <a:ext cx="9905564" cy="781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aph icon ile ilgili gÃ¶rsel sonucu">
            <a:extLst>
              <a:ext uri="{FF2B5EF4-FFF2-40B4-BE49-F238E27FC236}">
                <a16:creationId xmlns:a16="http://schemas.microsoft.com/office/drawing/2014/main" id="{FCD3875E-3F82-4E2F-A28E-93DF036E5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3705" y="11465761"/>
            <a:ext cx="2250239" cy="225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70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27009" y="1847206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Exploratory</a:t>
            </a:r>
            <a:r>
              <a:rPr lang="tr-TR" sz="66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Data Analysis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739321" y="3656254"/>
            <a:ext cx="17072722" cy="1321332"/>
            <a:chOff x="3276792" y="4309397"/>
            <a:chExt cx="17072722" cy="1321332"/>
          </a:xfrm>
        </p:grpSpPr>
        <p:sp>
          <p:nvSpPr>
            <p:cNvPr id="9" name="TextBox 8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These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values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need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imputation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or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replication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with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any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other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value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rather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than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NaN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.</a:t>
              </a: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03022" y="4309397"/>
              <a:ext cx="4009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Missing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Values</a:t>
              </a:r>
              <a:endParaRPr lang="en-US" sz="54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782750" y="5682514"/>
            <a:ext cx="17072722" cy="1321332"/>
            <a:chOff x="3276792" y="4309397"/>
            <a:chExt cx="17072722" cy="1321332"/>
          </a:xfrm>
        </p:grpSpPr>
        <p:sp>
          <p:nvSpPr>
            <p:cNvPr id="11" name="TextBox 10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>
                  <a:latin typeface="Montserrat Light" charset="0"/>
                  <a:ea typeface="Montserrat Light" charset="0"/>
                  <a:cs typeface="Montserrat Light" charset="0"/>
                </a:rPr>
                <a:t>A simpler model is preferable, and, in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similiar</a:t>
              </a:r>
              <a:r>
                <a:rPr lang="en-US" sz="2400" dirty="0">
                  <a:latin typeface="Montserrat Light" charset="0"/>
                  <a:ea typeface="Montserrat Light" charset="0"/>
                  <a:cs typeface="Montserrat Light" charset="0"/>
                </a:rPr>
                <a:t> sense, a model with fewer features is simpler.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03022" y="4309397"/>
              <a:ext cx="660956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Highly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Correlated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Features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13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739321" y="7821803"/>
            <a:ext cx="17072722" cy="1875330"/>
            <a:chOff x="3276792" y="4309397"/>
            <a:chExt cx="17072722" cy="1875330"/>
          </a:xfrm>
        </p:grpSpPr>
        <p:sp>
          <p:nvSpPr>
            <p:cNvPr id="15" name="TextBox 14"/>
            <p:cNvSpPr txBox="1"/>
            <p:nvPr/>
          </p:nvSpPr>
          <p:spPr>
            <a:xfrm>
              <a:off x="4103022" y="5041657"/>
              <a:ext cx="16246492" cy="114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>
                  <a:latin typeface="Montserrat Light"/>
                </a:rPr>
                <a:t>T</a:t>
              </a:r>
              <a:r>
                <a:rPr lang="en-US" sz="2400" dirty="0">
                  <a:latin typeface="Montserrat Light"/>
                </a:rPr>
                <a:t>he importance of a feature</a:t>
              </a:r>
              <a:r>
                <a:rPr lang="tr-TR" sz="2400" dirty="0">
                  <a:latin typeface="Montserrat Light"/>
                </a:rPr>
                <a:t> is </a:t>
              </a:r>
              <a:r>
                <a:rPr lang="tr-TR" sz="2400" dirty="0" err="1">
                  <a:latin typeface="Montserrat Light"/>
                </a:rPr>
                <a:t>measured</a:t>
              </a:r>
              <a:r>
                <a:rPr lang="en-US" sz="2400" dirty="0">
                  <a:latin typeface="Montserrat Light"/>
                </a:rPr>
                <a:t> by calculating the increase in the model’s prediction error after permuting the feature.</a:t>
              </a: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  <a:p>
              <a:pPr algn="just">
                <a:lnSpc>
                  <a:spcPct val="150000"/>
                </a:lnSpc>
              </a:pP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03022" y="4309397"/>
              <a:ext cx="105959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Feature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Importance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&amp;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Dimension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Reduction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1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FC8F736F-5786-4092-BF4E-70FEF53F9E6F}"/>
              </a:ext>
            </a:extLst>
          </p:cNvPr>
          <p:cNvGrpSpPr/>
          <p:nvPr/>
        </p:nvGrpSpPr>
        <p:grpSpPr>
          <a:xfrm>
            <a:off x="3782750" y="9822377"/>
            <a:ext cx="17072722" cy="1318895"/>
            <a:chOff x="3276792" y="4309397"/>
            <a:chExt cx="17072722" cy="1318895"/>
          </a:xfrm>
        </p:grpSpPr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64792E4-09AA-4197-AFE9-ADC859619A22}"/>
                </a:ext>
              </a:extLst>
            </p:cNvPr>
            <p:cNvSpPr txBox="1"/>
            <p:nvPr/>
          </p:nvSpPr>
          <p:spPr>
            <a:xfrm>
              <a:off x="4103022" y="5041657"/>
              <a:ext cx="16246492" cy="586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Time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series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features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are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converted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to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Pandas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datetime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format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and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features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extracted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w.r.t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to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datetime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.</a:t>
              </a: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A21323D3-5486-4F26-90A8-5CACCEEFBF37}"/>
                </a:ext>
              </a:extLst>
            </p:cNvPr>
            <p:cNvSpPr txBox="1"/>
            <p:nvPr/>
          </p:nvSpPr>
          <p:spPr>
            <a:xfrm>
              <a:off x="4103022" y="4309397"/>
              <a:ext cx="46250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Feature</a:t>
              </a:r>
              <a:r>
                <a:rPr lang="tr-TR" sz="3200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z="3200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Extraction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5" name="Shape 2906">
              <a:extLst>
                <a:ext uri="{FF2B5EF4-FFF2-40B4-BE49-F238E27FC236}">
                  <a16:creationId xmlns:a16="http://schemas.microsoft.com/office/drawing/2014/main" id="{DA105539-C6CE-4F6C-BD75-32AC00AA8C95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pic>
        <p:nvPicPr>
          <p:cNvPr id="2056" name="Picture 8" descr="hike icon ile ilgili gÃ¶rsel sonucu">
            <a:extLst>
              <a:ext uri="{FF2B5EF4-FFF2-40B4-BE49-F238E27FC236}">
                <a16:creationId xmlns:a16="http://schemas.microsoft.com/office/drawing/2014/main" id="{BBBEF80E-40E8-4828-93D7-EF1AB12C4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261" y="11667489"/>
            <a:ext cx="1785128" cy="178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Dikdörtgen 25">
            <a:extLst>
              <a:ext uri="{FF2B5EF4-FFF2-40B4-BE49-F238E27FC236}">
                <a16:creationId xmlns:a16="http://schemas.microsoft.com/office/drawing/2014/main" id="{A90F033B-7FA4-4FF9-82AF-1A2EBFF3ACCD}"/>
              </a:ext>
            </a:extLst>
          </p:cNvPr>
          <p:cNvSpPr/>
          <p:nvPr/>
        </p:nvSpPr>
        <p:spPr>
          <a:xfrm>
            <a:off x="6827009" y="1600200"/>
            <a:ext cx="11330362" cy="170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660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27009" y="1847206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Data </a:t>
            </a:r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Preprocessing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739321" y="4003081"/>
            <a:ext cx="17072722" cy="1875330"/>
            <a:chOff x="3276792" y="4309397"/>
            <a:chExt cx="17072722" cy="1875330"/>
          </a:xfrm>
        </p:grpSpPr>
        <p:sp>
          <p:nvSpPr>
            <p:cNvPr id="9" name="TextBox 8"/>
            <p:cNvSpPr txBox="1"/>
            <p:nvPr/>
          </p:nvSpPr>
          <p:spPr>
            <a:xfrm>
              <a:off x="4103022" y="5041657"/>
              <a:ext cx="16246492" cy="114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Dropping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entire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NaN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values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&amp;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replication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with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unknown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label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and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most_frequent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instances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for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FLIGHT_NO &amp; AIRCRAFT_TYPE</a:t>
              </a:r>
            </a:p>
            <a:p>
              <a:pPr algn="just">
                <a:lnSpc>
                  <a:spcPct val="150000"/>
                </a:lnSpc>
              </a:pPr>
              <a:r>
                <a:rPr lang="tr-TR" sz="2400" b="1" dirty="0">
                  <a:latin typeface="Montserrat Light"/>
                  <a:ea typeface="Montserrat Light" charset="0"/>
                  <a:cs typeface="Montserrat Light" charset="0"/>
                </a:rPr>
                <a:t>0.1% </a:t>
              </a:r>
              <a:r>
                <a:rPr lang="tr-TR" sz="2400" b="1" dirty="0" err="1">
                  <a:latin typeface="Montserrat Light"/>
                  <a:ea typeface="Montserrat Light" charset="0"/>
                  <a:cs typeface="Montserrat Light" charset="0"/>
                </a:rPr>
                <a:t>for</a:t>
              </a:r>
              <a:r>
                <a:rPr lang="tr-TR" sz="2400" b="1" dirty="0">
                  <a:latin typeface="Montserrat Light"/>
                  <a:ea typeface="Montserrat Light" charset="0"/>
                  <a:cs typeface="Montserrat Light" charset="0"/>
                </a:rPr>
                <a:t> FLIGHT_NO &amp; 0.4% </a:t>
              </a:r>
              <a:r>
                <a:rPr lang="tr-TR" sz="2400" b="1" dirty="0" err="1">
                  <a:latin typeface="Montserrat Light"/>
                  <a:ea typeface="Montserrat Light" charset="0"/>
                  <a:cs typeface="Montserrat Light" charset="0"/>
                </a:rPr>
                <a:t>for</a:t>
              </a:r>
              <a:r>
                <a:rPr lang="tr-TR" sz="2400" b="1" dirty="0">
                  <a:latin typeface="Montserrat Light"/>
                  <a:ea typeface="Montserrat Light" charset="0"/>
                  <a:cs typeface="Montserrat Light" charset="0"/>
                </a:rPr>
                <a:t> AIRCRAFT.</a:t>
              </a:r>
              <a:endParaRPr lang="en-US" sz="2400" b="1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03022" y="4309397"/>
              <a:ext cx="4009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Missing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Values</a:t>
              </a:r>
              <a:endParaRPr lang="en-US" sz="54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FC8F736F-5786-4092-BF4E-70FEF53F9E6F}"/>
              </a:ext>
            </a:extLst>
          </p:cNvPr>
          <p:cNvGrpSpPr/>
          <p:nvPr/>
        </p:nvGrpSpPr>
        <p:grpSpPr>
          <a:xfrm>
            <a:off x="3739321" y="6397116"/>
            <a:ext cx="17072722" cy="1318895"/>
            <a:chOff x="3276792" y="4309397"/>
            <a:chExt cx="17072722" cy="1318895"/>
          </a:xfrm>
        </p:grpSpPr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F64792E4-09AA-4197-AFE9-ADC859619A22}"/>
                </a:ext>
              </a:extLst>
            </p:cNvPr>
            <p:cNvSpPr txBox="1"/>
            <p:nvPr/>
          </p:nvSpPr>
          <p:spPr>
            <a:xfrm>
              <a:off x="4103022" y="5041657"/>
              <a:ext cx="16246492" cy="586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endParaRPr lang="en-US" sz="2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A21323D3-5486-4F26-90A8-5CACCEEFBF37}"/>
                </a:ext>
              </a:extLst>
            </p:cNvPr>
            <p:cNvSpPr txBox="1"/>
            <p:nvPr/>
          </p:nvSpPr>
          <p:spPr>
            <a:xfrm>
              <a:off x="4103022" y="4309397"/>
              <a:ext cx="52722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Feature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Importance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5" name="Shape 2906">
              <a:extLst>
                <a:ext uri="{FF2B5EF4-FFF2-40B4-BE49-F238E27FC236}">
                  <a16:creationId xmlns:a16="http://schemas.microsoft.com/office/drawing/2014/main" id="{DA105539-C6CE-4F6C-BD75-32AC00AA8C95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pic>
        <p:nvPicPr>
          <p:cNvPr id="7170" name="Picture 2" descr="select png ile ilgili gÃ¶rsel sonucu">
            <a:extLst>
              <a:ext uri="{FF2B5EF4-FFF2-40B4-BE49-F238E27FC236}">
                <a16:creationId xmlns:a16="http://schemas.microsoft.com/office/drawing/2014/main" id="{97BA61C3-9841-429A-A45D-C763788F6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653" y="11936676"/>
            <a:ext cx="1054341" cy="155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C59C6D74-86ED-416C-9F69-A81484463B2D}"/>
              </a:ext>
            </a:extLst>
          </p:cNvPr>
          <p:cNvSpPr txBox="1"/>
          <p:nvPr/>
        </p:nvSpPr>
        <p:spPr>
          <a:xfrm>
            <a:off x="4565551" y="7088077"/>
            <a:ext cx="16246492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Meaningful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features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were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used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due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to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improve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model’s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/>
                <a:ea typeface="Montserrat Light" charset="0"/>
                <a:cs typeface="Montserrat Light" charset="0"/>
              </a:rPr>
              <a:t>performance</a:t>
            </a:r>
            <a:r>
              <a:rPr lang="tr-TR" sz="2400" dirty="0">
                <a:latin typeface="Montserrat Light"/>
                <a:ea typeface="Montserrat Light" charset="0"/>
                <a:cs typeface="Montserrat Light" charset="0"/>
              </a:rPr>
              <a:t>.</a:t>
            </a: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DCF37E61-C0A1-4EB1-B160-6CFAB7525702}"/>
              </a:ext>
            </a:extLst>
          </p:cNvPr>
          <p:cNvGrpSpPr/>
          <p:nvPr/>
        </p:nvGrpSpPr>
        <p:grpSpPr>
          <a:xfrm>
            <a:off x="3739321" y="8793023"/>
            <a:ext cx="17072722" cy="1875330"/>
            <a:chOff x="3276792" y="4309397"/>
            <a:chExt cx="17072722" cy="1875330"/>
          </a:xfrm>
        </p:grpSpPr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AD0006D9-FCC7-4F95-BEC0-B95FAA3F9F85}"/>
                </a:ext>
              </a:extLst>
            </p:cNvPr>
            <p:cNvSpPr txBox="1"/>
            <p:nvPr/>
          </p:nvSpPr>
          <p:spPr>
            <a:xfrm>
              <a:off x="4103022" y="5041657"/>
              <a:ext cx="16246492" cy="114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Discrepancy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on CONNECTION_TIME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and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relation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of CABIN CLASS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and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SELL_CLASS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etc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No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manipulation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is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made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because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these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type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of data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are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also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in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the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b="1" dirty="0" err="1">
                  <a:latin typeface="Montserrat Light" charset="0"/>
                  <a:ea typeface="Montserrat Light" charset="0"/>
                  <a:cs typeface="Montserrat Light" charset="0"/>
                </a:rPr>
                <a:t>submission</a:t>
              </a:r>
              <a:r>
                <a:rPr lang="tr-TR" sz="2400" b="1" dirty="0">
                  <a:latin typeface="Montserrat Light" charset="0"/>
                  <a:ea typeface="Montserrat Light" charset="0"/>
                  <a:cs typeface="Montserrat Light" charset="0"/>
                </a:rPr>
                <a:t> file.</a:t>
              </a:r>
              <a:endParaRPr lang="en-US" sz="2400" b="1" dirty="0">
                <a:latin typeface="Montserrat Light" charset="0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7E615A87-9A86-4616-98E7-1BFC6B3CC9C3}"/>
                </a:ext>
              </a:extLst>
            </p:cNvPr>
            <p:cNvSpPr txBox="1"/>
            <p:nvPr/>
          </p:nvSpPr>
          <p:spPr>
            <a:xfrm>
              <a:off x="4103022" y="4309397"/>
              <a:ext cx="47297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Outlier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Detection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6" name="Shape 2906">
              <a:extLst>
                <a:ext uri="{FF2B5EF4-FFF2-40B4-BE49-F238E27FC236}">
                  <a16:creationId xmlns:a16="http://schemas.microsoft.com/office/drawing/2014/main" id="{7B4EC1DF-17D1-4BE9-8D8E-FD86ED4D26D7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</p:spTree>
    <p:extLst>
      <p:ext uri="{BB962C8B-B14F-4D97-AF65-F5344CB8AC3E}">
        <p14:creationId xmlns:p14="http://schemas.microsoft.com/office/powerpoint/2010/main" val="241630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>
            <a:extLst>
              <a:ext uri="{FF2B5EF4-FFF2-40B4-BE49-F238E27FC236}">
                <a16:creationId xmlns:a16="http://schemas.microsoft.com/office/drawing/2014/main" id="{440896D0-6E22-4512-86C1-B73A01EF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942" y="0"/>
            <a:ext cx="14543766" cy="1352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97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27009" y="1847206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Machine Learning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739323" y="5122563"/>
            <a:ext cx="5312010" cy="646331"/>
            <a:chOff x="3276792" y="4309397"/>
            <a:chExt cx="5312010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4103022" y="4309397"/>
              <a:ext cx="44857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Neural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Networks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65553" y="7501182"/>
            <a:ext cx="252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spc="600" dirty="0" err="1">
                <a:solidFill>
                  <a:schemeClr val="bg1"/>
                </a:solidFill>
                <a:highlight>
                  <a:srgbClr val="000000"/>
                </a:highlight>
                <a:latin typeface="Montserrat" charset="0"/>
                <a:ea typeface="Montserrat" charset="0"/>
                <a:cs typeface="Montserrat" charset="0"/>
              </a:rPr>
              <a:t>CatBoost</a:t>
            </a:r>
            <a:endParaRPr lang="en-US" sz="4800" b="1" spc="600" dirty="0">
              <a:solidFill>
                <a:schemeClr val="bg1"/>
              </a:solidFill>
              <a:highlight>
                <a:srgbClr val="000000"/>
              </a:highlight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7" name="Shape 2906"/>
          <p:cNvSpPr/>
          <p:nvPr/>
        </p:nvSpPr>
        <p:spPr>
          <a:xfrm>
            <a:off x="3739322" y="7447296"/>
            <a:ext cx="558655" cy="5586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2"/>
          </a:solidFill>
          <a:ln w="12700">
            <a:solidFill>
              <a:srgbClr val="0E0E0E"/>
            </a:solidFill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/>
          </a:p>
        </p:txBody>
      </p:sp>
      <p:pic>
        <p:nvPicPr>
          <p:cNvPr id="4102" name="Picture 6" descr="ai png ile ilgili gÃ¶rsel sonucu">
            <a:extLst>
              <a:ext uri="{FF2B5EF4-FFF2-40B4-BE49-F238E27FC236}">
                <a16:creationId xmlns:a16="http://schemas.microsoft.com/office/drawing/2014/main" id="{A0EACD82-723E-42CA-B4FC-07226C6F4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7568" y="11607536"/>
            <a:ext cx="2322512" cy="164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">
            <a:extLst>
              <a:ext uri="{FF2B5EF4-FFF2-40B4-BE49-F238E27FC236}">
                <a16:creationId xmlns:a16="http://schemas.microsoft.com/office/drawing/2014/main" id="{62B7B6A7-1B39-4951-8C44-AB0AE7B4D2F9}"/>
              </a:ext>
            </a:extLst>
          </p:cNvPr>
          <p:cNvGrpSpPr/>
          <p:nvPr/>
        </p:nvGrpSpPr>
        <p:grpSpPr>
          <a:xfrm>
            <a:off x="3739323" y="9556635"/>
            <a:ext cx="5602089" cy="646331"/>
            <a:chOff x="3276792" y="4309397"/>
            <a:chExt cx="5602089" cy="646331"/>
          </a:xfrm>
        </p:grpSpPr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CBF84049-4551-475F-8F05-AD86CD37310F}"/>
                </a:ext>
              </a:extLst>
            </p:cNvPr>
            <p:cNvSpPr txBox="1"/>
            <p:nvPr/>
          </p:nvSpPr>
          <p:spPr>
            <a:xfrm>
              <a:off x="4103022" y="4309397"/>
              <a:ext cx="47758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Linear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Regression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1" name="Shape 2906">
              <a:extLst>
                <a:ext uri="{FF2B5EF4-FFF2-40B4-BE49-F238E27FC236}">
                  <a16:creationId xmlns:a16="http://schemas.microsoft.com/office/drawing/2014/main" id="{10537A2B-2FA7-4F25-AB85-5CEC5B00FCDD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</p:spTree>
    <p:extLst>
      <p:ext uri="{BB962C8B-B14F-4D97-AF65-F5344CB8AC3E}">
        <p14:creationId xmlns:p14="http://schemas.microsoft.com/office/powerpoint/2010/main" val="179434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harita içeren bir resim&#10;&#10;Açıklama otomatik olarak oluşturuldu">
            <a:extLst>
              <a:ext uri="{FF2B5EF4-FFF2-40B4-BE49-F238E27FC236}">
                <a16:creationId xmlns:a16="http://schemas.microsoft.com/office/drawing/2014/main" id="{ED1F2C5F-A903-4DF8-B763-79C1487A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555" y="3026707"/>
            <a:ext cx="12426540" cy="76625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6" descr="ai png ile ilgili gÃ¶rsel sonucu">
            <a:extLst>
              <a:ext uri="{FF2B5EF4-FFF2-40B4-BE49-F238E27FC236}">
                <a16:creationId xmlns:a16="http://schemas.microsoft.com/office/drawing/2014/main" id="{765FDE28-F6BE-48F5-8D7A-08159DD8E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7568" y="11607536"/>
            <a:ext cx="2322512" cy="164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04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27009" y="1863069"/>
            <a:ext cx="10723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Future</a:t>
            </a:r>
            <a:r>
              <a:rPr lang="tr-TR" sz="66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tr-TR" sz="6600" spc="600" dirty="0" err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Improvements</a:t>
            </a:r>
            <a:endParaRPr lang="en-US" sz="9600" spc="6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638164" y="3890225"/>
            <a:ext cx="17072722" cy="1321332"/>
            <a:chOff x="3276792" y="4309397"/>
            <a:chExt cx="17072722" cy="1321332"/>
          </a:xfrm>
        </p:grpSpPr>
        <p:sp>
          <p:nvSpPr>
            <p:cNvPr id="9" name="TextBox 8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Without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scale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0.09% RMSE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validation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/>
                  <a:ea typeface="Montserrat Light" charset="0"/>
                  <a:cs typeface="Montserrat Light" charset="0"/>
                </a:rPr>
                <a:t>loss</a:t>
              </a:r>
              <a:r>
                <a:rPr lang="tr-TR" sz="2400" dirty="0">
                  <a:latin typeface="Montserrat Light"/>
                  <a:ea typeface="Montserrat Light" charset="0"/>
                  <a:cs typeface="Montserrat Light" charset="0"/>
                </a:rPr>
                <a:t>.</a:t>
              </a:r>
              <a:endParaRPr lang="en-US" sz="1400" dirty="0">
                <a:latin typeface="Montserrat Light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03022" y="4309397"/>
              <a:ext cx="88689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Time Series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Generator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with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Keras</a:t>
              </a:r>
              <a:endParaRPr lang="en-US" sz="54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38164" y="5872410"/>
            <a:ext cx="17072722" cy="1321332"/>
            <a:chOff x="3276792" y="4309397"/>
            <a:chExt cx="17072722" cy="1321332"/>
          </a:xfrm>
        </p:grpSpPr>
        <p:sp>
          <p:nvSpPr>
            <p:cNvPr id="11" name="TextBox 10"/>
            <p:cNvSpPr txBox="1"/>
            <p:nvPr/>
          </p:nvSpPr>
          <p:spPr>
            <a:xfrm>
              <a:off x="4103022" y="5041657"/>
              <a:ext cx="16246492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Outliers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in data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are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also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in </a:t>
              </a:r>
              <a:r>
                <a:rPr lang="tr-TR" sz="2400" dirty="0" err="1">
                  <a:latin typeface="Montserrat Light" charset="0"/>
                  <a:ea typeface="Montserrat Light" charset="0"/>
                  <a:cs typeface="Montserrat Light" charset="0"/>
                </a:rPr>
                <a:t>submission</a:t>
              </a:r>
              <a:r>
                <a:rPr lang="tr-TR" sz="2400" dirty="0">
                  <a:latin typeface="Montserrat Light" charset="0"/>
                  <a:ea typeface="Montserrat Light" charset="0"/>
                  <a:cs typeface="Montserrat Light" charset="0"/>
                </a:rPr>
                <a:t> file.</a:t>
              </a:r>
              <a:endParaRPr lang="en-US" sz="2400" dirty="0">
                <a:latin typeface="Montserrat Light" charset="0"/>
                <a:ea typeface="Montserrat Light" charset="0"/>
                <a:cs typeface="Montserrat Light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03022" y="4309397"/>
              <a:ext cx="39514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Data </a:t>
              </a:r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Cleaning</a:t>
              </a:r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 </a:t>
              </a:r>
              <a:endParaRPr lang="en-US" sz="4800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13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652463" y="7995238"/>
            <a:ext cx="3388150" cy="646331"/>
            <a:chOff x="3276792" y="4309397"/>
            <a:chExt cx="3388150" cy="646331"/>
          </a:xfrm>
        </p:grpSpPr>
        <p:sp>
          <p:nvSpPr>
            <p:cNvPr id="16" name="TextBox 15"/>
            <p:cNvSpPr txBox="1"/>
            <p:nvPr/>
          </p:nvSpPr>
          <p:spPr>
            <a:xfrm>
              <a:off x="4103022" y="4309397"/>
              <a:ext cx="25619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 err="1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SparkSQL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17" name="Shape 2906"/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grpSp>
        <p:nvGrpSpPr>
          <p:cNvPr id="21" name="Group 13">
            <a:extLst>
              <a:ext uri="{FF2B5EF4-FFF2-40B4-BE49-F238E27FC236}">
                <a16:creationId xmlns:a16="http://schemas.microsoft.com/office/drawing/2014/main" id="{E7366E5F-64E9-4790-A006-B7DB1ABDB0FD}"/>
              </a:ext>
            </a:extLst>
          </p:cNvPr>
          <p:cNvGrpSpPr/>
          <p:nvPr/>
        </p:nvGrpSpPr>
        <p:grpSpPr>
          <a:xfrm>
            <a:off x="3652463" y="9744944"/>
            <a:ext cx="5879152" cy="646331"/>
            <a:chOff x="3276792" y="4309397"/>
            <a:chExt cx="5879152" cy="646331"/>
          </a:xfrm>
        </p:grpSpPr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4793D51B-F246-4DD7-BC1A-7B0938534554}"/>
                </a:ext>
              </a:extLst>
            </p:cNvPr>
            <p:cNvSpPr txBox="1"/>
            <p:nvPr/>
          </p:nvSpPr>
          <p:spPr>
            <a:xfrm>
              <a:off x="4103022" y="4309397"/>
              <a:ext cx="50529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pc="600" dirty="0">
                  <a:solidFill>
                    <a:schemeClr val="tx2"/>
                  </a:solidFill>
                  <a:latin typeface="Montserrat" charset="0"/>
                  <a:ea typeface="Montserrat" charset="0"/>
                  <a:cs typeface="Montserrat" charset="0"/>
                </a:rPr>
                <a:t>Domain Knowledge</a:t>
              </a:r>
              <a:endParaRPr lang="en-US" spc="6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endParaRPr>
            </a:p>
          </p:txBody>
        </p:sp>
        <p:sp>
          <p:nvSpPr>
            <p:cNvPr id="27" name="Shape 2906">
              <a:extLst>
                <a:ext uri="{FF2B5EF4-FFF2-40B4-BE49-F238E27FC236}">
                  <a16:creationId xmlns:a16="http://schemas.microsoft.com/office/drawing/2014/main" id="{4C476B3E-DD56-4156-8AFF-8D24CCC11DB2}"/>
                </a:ext>
              </a:extLst>
            </p:cNvPr>
            <p:cNvSpPr/>
            <p:nvPr/>
          </p:nvSpPr>
          <p:spPr>
            <a:xfrm>
              <a:off x="3276792" y="4322456"/>
              <a:ext cx="558655" cy="558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618"/>
                  </a:moveTo>
                  <a:cubicBezTo>
                    <a:pt x="5377" y="20618"/>
                    <a:pt x="982" y="16223"/>
                    <a:pt x="982" y="10800"/>
                  </a:cubicBezTo>
                  <a:cubicBezTo>
                    <a:pt x="982" y="5378"/>
                    <a:pt x="5377" y="982"/>
                    <a:pt x="10800" y="982"/>
                  </a:cubicBezTo>
                  <a:cubicBezTo>
                    <a:pt x="16223" y="982"/>
                    <a:pt x="20618" y="537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moveTo>
                    <a:pt x="10800" y="0"/>
                  </a:moveTo>
                  <a:cubicBezTo>
                    <a:pt x="4836" y="0"/>
                    <a:pt x="0" y="4835"/>
                    <a:pt x="0" y="10800"/>
                  </a:cubicBezTo>
                  <a:cubicBezTo>
                    <a:pt x="0" y="16765"/>
                    <a:pt x="4836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moveTo>
                    <a:pt x="9674" y="5053"/>
                  </a:moveTo>
                  <a:cubicBezTo>
                    <a:pt x="9585" y="4964"/>
                    <a:pt x="9463" y="4909"/>
                    <a:pt x="9327" y="4909"/>
                  </a:cubicBezTo>
                  <a:cubicBezTo>
                    <a:pt x="9056" y="4909"/>
                    <a:pt x="8836" y="5129"/>
                    <a:pt x="8836" y="5400"/>
                  </a:cubicBezTo>
                  <a:cubicBezTo>
                    <a:pt x="8836" y="5536"/>
                    <a:pt x="8891" y="5658"/>
                    <a:pt x="8980" y="5747"/>
                  </a:cubicBezTo>
                  <a:lnTo>
                    <a:pt x="13574" y="10800"/>
                  </a:lnTo>
                  <a:lnTo>
                    <a:pt x="8980" y="15853"/>
                  </a:lnTo>
                  <a:cubicBezTo>
                    <a:pt x="8891" y="15942"/>
                    <a:pt x="8836" y="16065"/>
                    <a:pt x="8836" y="16200"/>
                  </a:cubicBezTo>
                  <a:cubicBezTo>
                    <a:pt x="8836" y="16471"/>
                    <a:pt x="9056" y="16691"/>
                    <a:pt x="9327" y="16691"/>
                  </a:cubicBezTo>
                  <a:cubicBezTo>
                    <a:pt x="9463" y="16691"/>
                    <a:pt x="9585" y="16636"/>
                    <a:pt x="9674" y="16547"/>
                  </a:cubicBezTo>
                  <a:lnTo>
                    <a:pt x="14583" y="11147"/>
                  </a:lnTo>
                  <a:cubicBezTo>
                    <a:pt x="14672" y="11058"/>
                    <a:pt x="14727" y="10936"/>
                    <a:pt x="14727" y="10800"/>
                  </a:cubicBezTo>
                  <a:cubicBezTo>
                    <a:pt x="14727" y="10665"/>
                    <a:pt x="14672" y="10542"/>
                    <a:pt x="14583" y="10453"/>
                  </a:cubicBezTo>
                  <a:cubicBezTo>
                    <a:pt x="14583" y="10453"/>
                    <a:pt x="9674" y="5053"/>
                    <a:pt x="9674" y="5053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090" tIns="38090" rIns="38090" bIns="38090" anchor="ctr"/>
            <a:lstStyle/>
            <a:p>
              <a:pPr defTabSz="457063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999"/>
            </a:p>
          </p:txBody>
        </p:sp>
      </p:grpSp>
      <p:sp>
        <p:nvSpPr>
          <p:cNvPr id="28" name="TextBox 10">
            <a:extLst>
              <a:ext uri="{FF2B5EF4-FFF2-40B4-BE49-F238E27FC236}">
                <a16:creationId xmlns:a16="http://schemas.microsoft.com/office/drawing/2014/main" id="{D379AC59-2553-440A-9759-011C09BDBA79}"/>
              </a:ext>
            </a:extLst>
          </p:cNvPr>
          <p:cNvSpPr txBox="1"/>
          <p:nvPr/>
        </p:nvSpPr>
        <p:spPr>
          <a:xfrm>
            <a:off x="4464394" y="8731434"/>
            <a:ext cx="16246492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In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case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of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no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giant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VMs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,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structured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data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manipulation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&amp;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machine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learning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models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usually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faster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with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SparkSQL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. </a:t>
            </a:r>
            <a:endParaRPr lang="en-US" sz="24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1F9B74FA-511D-4B0A-8E8A-24F59D1EAD09}"/>
              </a:ext>
            </a:extLst>
          </p:cNvPr>
          <p:cNvSpPr txBox="1"/>
          <p:nvPr/>
        </p:nvSpPr>
        <p:spPr>
          <a:xfrm>
            <a:off x="4464394" y="10478454"/>
            <a:ext cx="16246492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More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features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can be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extracted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with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 domain </a:t>
            </a:r>
            <a:r>
              <a:rPr lang="tr-TR" sz="2400" dirty="0" err="1">
                <a:latin typeface="Montserrat Light" charset="0"/>
                <a:ea typeface="Montserrat Light" charset="0"/>
                <a:cs typeface="Montserrat Light" charset="0"/>
              </a:rPr>
              <a:t>knowledge</a:t>
            </a:r>
            <a:r>
              <a:rPr lang="tr-TR" sz="2400" dirty="0">
                <a:latin typeface="Montserrat Light" charset="0"/>
                <a:ea typeface="Montserrat Light" charset="0"/>
                <a:cs typeface="Montserrat Light" charset="0"/>
              </a:rPr>
              <a:t>.</a:t>
            </a:r>
            <a:endParaRPr lang="en-US" sz="24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pic>
        <p:nvPicPr>
          <p:cNvPr id="4098" name="Picture 2" descr="png improvement icon ile ilgili gÃ¶rsel sonucu">
            <a:extLst>
              <a:ext uri="{FF2B5EF4-FFF2-40B4-BE49-F238E27FC236}">
                <a16:creationId xmlns:a16="http://schemas.microsoft.com/office/drawing/2014/main" id="{5AEDDEB8-DF85-4897-B0C7-AD6227530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037" y="11302303"/>
            <a:ext cx="193357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41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E8042C0-7762-4AF1-9166-C5826FD39B78}"/>
              </a:ext>
            </a:extLst>
          </p:cNvPr>
          <p:cNvSpPr/>
          <p:nvPr/>
        </p:nvSpPr>
        <p:spPr>
          <a:xfrm>
            <a:off x="7797764" y="10153357"/>
            <a:ext cx="8782122" cy="15838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02CD52FF-95E0-41FE-8118-1FA712CC51AD}"/>
              </a:ext>
            </a:extLst>
          </p:cNvPr>
          <p:cNvSpPr txBox="1"/>
          <p:nvPr/>
        </p:nvSpPr>
        <p:spPr>
          <a:xfrm>
            <a:off x="8460059" y="10652904"/>
            <a:ext cx="745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spc="600" dirty="0">
                <a:solidFill>
                  <a:schemeClr val="bg2"/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Montserrat" charset="0"/>
              </a:rPr>
              <a:t>AI of </a:t>
            </a:r>
            <a:r>
              <a:rPr lang="tr-TR" sz="3200" spc="600" dirty="0" err="1">
                <a:solidFill>
                  <a:schemeClr val="bg2"/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Montserrat" charset="0"/>
              </a:rPr>
              <a:t>the</a:t>
            </a:r>
            <a:r>
              <a:rPr lang="tr-TR" sz="3200" spc="600" dirty="0">
                <a:solidFill>
                  <a:schemeClr val="bg2"/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Montserrat" charset="0"/>
              </a:rPr>
              <a:t> </a:t>
            </a:r>
            <a:r>
              <a:rPr lang="tr-TR" sz="3200" spc="600" dirty="0" err="1">
                <a:solidFill>
                  <a:schemeClr val="bg2"/>
                </a:solidFill>
                <a:latin typeface="DengXian Light" panose="02010600030101010101" pitchFamily="2" charset="-122"/>
                <a:ea typeface="DengXian Light" panose="02010600030101010101" pitchFamily="2" charset="-122"/>
                <a:cs typeface="Montserrat" charset="0"/>
              </a:rPr>
              <a:t>Tiger</a:t>
            </a:r>
            <a:endParaRPr lang="en-US" sz="4800" spc="600" dirty="0">
              <a:solidFill>
                <a:schemeClr val="bg2"/>
              </a:solidFill>
              <a:latin typeface="DengXian Light" panose="02010600030101010101" pitchFamily="2" charset="-122"/>
              <a:ea typeface="DengXian Light" panose="02010600030101010101" pitchFamily="2" charset="-122"/>
              <a:cs typeface="Montserrat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8BF0630-2DB7-48F3-848F-41C382728FC0}"/>
              </a:ext>
            </a:extLst>
          </p:cNvPr>
          <p:cNvSpPr txBox="1"/>
          <p:nvPr/>
        </p:nvSpPr>
        <p:spPr>
          <a:xfrm>
            <a:off x="7550305" y="5965762"/>
            <a:ext cx="9573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7200" dirty="0">
                <a:solidFill>
                  <a:schemeClr val="tx2"/>
                </a:solidFill>
                <a:latin typeface="DengXian Light" panose="020B0503020204020204" pitchFamily="2" charset="-122"/>
                <a:ea typeface="DengXian Light" panose="020B0503020204020204" pitchFamily="2" charset="-122"/>
                <a:cs typeface="Gautami" panose="020B0502040204020203" pitchFamily="34" charset="0"/>
              </a:rPr>
              <a:t>Teşekkürler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56EF432-C023-4536-8ECC-B34EE93D059A}"/>
              </a:ext>
            </a:extLst>
          </p:cNvPr>
          <p:cNvSpPr/>
          <p:nvPr/>
        </p:nvSpPr>
        <p:spPr>
          <a:xfrm>
            <a:off x="7098166" y="5773992"/>
            <a:ext cx="10181318" cy="1583871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40530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Neue Light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B0B1B3"/>
      </a:accent2>
      <a:accent3>
        <a:srgbClr val="000000"/>
      </a:accent3>
      <a:accent4>
        <a:srgbClr val="91969B"/>
      </a:accent4>
      <a:accent5>
        <a:srgbClr val="4B5050"/>
      </a:accent5>
      <a:accent6>
        <a:srgbClr val="91969B"/>
      </a:accent6>
      <a:hlink>
        <a:srgbClr val="4B5050"/>
      </a:hlink>
      <a:folHlink>
        <a:srgbClr val="19BB9B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Özel</PresentationFormat>
  <Paragraphs>77</Paragraphs>
  <Slides>16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Default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Melik Burak Bozbey</dc:creator>
  <cp:lastModifiedBy>Melik Burak Bozbey</cp:lastModifiedBy>
  <cp:revision>7</cp:revision>
  <dcterms:created xsi:type="dcterms:W3CDTF">2019-09-22T10:32:36Z</dcterms:created>
  <dcterms:modified xsi:type="dcterms:W3CDTF">2020-02-08T10:17:24Z</dcterms:modified>
</cp:coreProperties>
</file>